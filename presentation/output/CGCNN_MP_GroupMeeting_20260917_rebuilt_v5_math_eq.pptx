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目标：让老师快速看清论文讲了什么、如何部署与复现、单任务结果、如何改成多任务，以及多任务真实结果。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主线来自用户要求；后面的单任务和多任务各自有独立设置、过程与结果页。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 docs/paper_notes.md 与 README.md；本页避免提前展开图卷积细节。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节点/边特征来自 cgcnn/data.py 与 docs/paper_notes.md。整页只定义图表示，不展开聚合公式。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公式和实现对齐 cgcnn/model.py 的 fc_full、sigmoid、softplus1、torch.sum 和残差连接。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 cgcnn/model.py；此页是论文部分唯一一次完整呈现 embedding→conv→pooling→output 的主干流程。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论文部分只陈述代码仓库可追溯的任务范围和结论，不编造具体论文数值，也不与本次 30 轮复现做数值横比。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环境输出是实际执行结果；未重新安装环境，因为现有 cgcnn 环境已满足 CUDA 与 GPU 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单任务数据来自 data/mp-single-formation；由 data/mt-large 的同源 MP 结构派生，目标为第一列 formation_energy_per_atom。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终端节选和曲线都来自本目录的真实训练日志；不展示或复用旧数据结果。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单任务结果页独立；N、MAE、RMSE、R²全部来自 CSV 复算。R²说明测试集形成能整体拟合较好。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本页不做单任务与多任务的性能对比；多任务原因和结论在下一部分独立呈现。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 data/mt-large/id_prop.csv；三列性质为 formation_energy_per_atom、band_gap、efermi。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代码修改对应 cgcnn/data.py、cgcnn/model.py、main.py、predict.py；不虚构额外架构。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多任务训练使用同一批 MP 结构和相同划分比例，但与单任务分开保存、分开展示。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多任务结果页独立于单任务结果页；所有数值来自保存的 7 列测试 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结论仅基于多任务测试 CSV 和训练日志；没有任务权重、梯度冲突处理或不确定性建模。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所有结果来自保存的 MP 训练日志和测试 CSV；没有使用或比较其他数据集。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609600"/>
            <a:ext cx="66675" cy="485775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028700" y="1562100"/>
            <a:ext cx="9715500" cy="1333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论文理解、MP 单任务复现与多任务扩展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66800" y="3143250"/>
            <a:ext cx="685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组会汇报 | Materials Project | 2026-09-17</a:t>
            </a:r>
            <a:endParaRPr sz="1500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66800" y="3752850"/>
            <a:ext cx="3048000" cy="381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66800" y="41148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D9E6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主线：论文与原理 → 部署 → MP 单任务复现与结果 → MP 多任务修改、训练与结果 → 总结</a:t>
            </a:r>
            <a:endParaRPr sz="1200" b="0">
              <a:solidFill>
                <a:srgbClr val="D9E6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汇报主线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论文、部署、单任务和多任务分别成段，结果页不混合。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8097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19431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2479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论文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705100" y="2209800"/>
            <a:ext cx="15240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876550" y="18097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028950" y="19431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28950" y="22479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原理理解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4895850" y="2209800"/>
            <a:ext cx="15240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067300" y="18097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19700" y="19431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22479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部署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7086600" y="2209800"/>
            <a:ext cx="15240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58050" y="18097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10450" y="19431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10450" y="22479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单任务复现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9277350" y="2209800"/>
            <a:ext cx="15240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9448800" y="18097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601200" y="19431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01200" y="22479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单任务结果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85800" y="31051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0F8F7"/>
          </a:solidFill>
          <a:ln w="9525">
            <a:solidFill>
              <a:srgbClr val="B7E4E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32385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" y="35433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多任务修改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2705100" y="3505200"/>
            <a:ext cx="152400" cy="171450"/>
          </a:xfrm>
          <a:prstGeom prst="rightArrow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2876550" y="31051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0F8F7"/>
          </a:solidFill>
          <a:ln w="9525">
            <a:solidFill>
              <a:srgbClr val="B7E4E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028950" y="32385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028950" y="35433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多任务训练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4895850" y="3505200"/>
            <a:ext cx="152400" cy="171450"/>
          </a:xfrm>
          <a:prstGeom prst="rightArrow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5067300" y="31051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0F8F7"/>
          </a:solidFill>
          <a:ln w="9525">
            <a:solidFill>
              <a:srgbClr val="B7E4E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219700" y="32385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219700" y="35433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多任务结果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7086600" y="3505200"/>
            <a:ext cx="152400" cy="171450"/>
          </a:xfrm>
          <a:prstGeom prst="rightArrow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7258050" y="3105150"/>
            <a:ext cx="2000250" cy="971550"/>
          </a:xfrm>
          <a:prstGeom prst="roundRect">
            <a:avLst>
              <a:gd name="adj" fmla="val 15686"/>
            </a:avLst>
          </a:prstGeom>
          <a:solidFill>
            <a:srgbClr val="F0F8F7"/>
          </a:solidFill>
          <a:ln w="9525">
            <a:solidFill>
              <a:srgbClr val="B7E4E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10450" y="323850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410450" y="354330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右箭头 38"/>
          <p:cNvSpPr>
            <a:spLocks noGrp="1"/>
          </p:cNvSpPr>
          <p:nvPr/>
        </p:nvSpPr>
        <p:spPr>
          <a:xfrm>
            <a:off x="11239500" y="2381250"/>
            <a:ext cx="247650" cy="171450"/>
          </a:xfrm>
          <a:prstGeom prst="rightArrow">
            <a:avLst/>
          </a:prstGeom>
          <a:solidFill>
            <a:srgbClr val="0E7490"/>
          </a:solidFill>
          <a:ln w="0"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19150" y="2000250"/>
            <a:ext cx="1714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20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63B3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200" b="1">
              <a:solidFill>
                <a:srgbClr val="63B3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2781300"/>
            <a:ext cx="9144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论文与原理理解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3505200"/>
            <a:ext cx="8572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只保留一次核心机制：为什么提出、如何构图、如何聚合邻居、整体结构。</a:t>
            </a:r>
            <a:endParaRPr sz="1275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4095750"/>
            <a:ext cx="2667000" cy="38100"/>
          </a:xfrm>
          <a:prstGeom prst="rect">
            <a:avLst/>
          </a:prstGeom>
          <a:solidFill>
            <a:srgbClr val="63B3ED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为什么提出 CGCNN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晶体不是规则网格，材料性质又高度依赖局部原子环境。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809750"/>
            <a:ext cx="3333750" cy="2476500"/>
          </a:xfrm>
          <a:prstGeom prst="roundRect">
            <a:avLst>
              <a:gd name="adj" fmla="val 6154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0383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4574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晶体结构不规则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028950"/>
            <a:ext cx="28194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原子数、邻居数、周期性和局部环境都不同；普通 CNN 的固定网格不适合直接套用。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00550" y="1809750"/>
            <a:ext cx="3333750" cy="2476500"/>
          </a:xfrm>
          <a:prstGeom prst="roundRect">
            <a:avLst>
              <a:gd name="adj" fmla="val 6154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29150" y="20383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29150" y="24574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传统描述符依赖人工设计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29150" y="3028950"/>
            <a:ext cx="28194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需要先定义并选择结构特征，表示能力和迁移性受描述符限制。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15300" y="1809750"/>
            <a:ext cx="3333750" cy="2476500"/>
          </a:xfrm>
          <a:prstGeom prst="roundRect">
            <a:avLst>
              <a:gd name="adj" fmla="val 6154"/>
            </a:avLst>
          </a:prstGeom>
          <a:solidFill>
            <a:srgbClr val="E7F4EC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43900" y="20383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245745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论文的目标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3028950"/>
            <a:ext cx="28194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直接从晶体结构学习表示，同时覆盖回归与分类任务，并保留局部结构的信息通道。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4762500"/>
            <a:ext cx="1080135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50101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核心判断：晶体图不是数据预处理的小技巧，而是 CGCNN 的结构归纳偏置。</a:t>
            </a:r>
            <a:endParaRPr sz="1500" b="1">
              <a:solidFill>
                <a:srgbClr val="0F2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晶体如何表示成图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这里只讲图表示：节点、边和邻居定义。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08683"/>
            <a:ext cx="5238750" cy="3945434"/>
          </a:xfrm>
          <a:prstGeom prst="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6191250" y="1466850"/>
            <a:ext cx="5105400" cy="1066800"/>
          </a:xfrm>
          <a:prstGeom prst="roundRect">
            <a:avLst>
              <a:gd name="adj" fmla="val 14286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0" y="1647825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 = (V, E)</a:t>
            </a:r>
            <a:endParaRPr sz="1950" b="1">
              <a:solidFill>
                <a:srgbClr val="2F6FB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0" y="2076450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V：原子节点    E：近邻连接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10300" y="2819400"/>
            <a:ext cx="66675" cy="4572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19850" y="27813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</a:t>
            </a:r>
            <a:endParaRPr sz="12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734300" y="27717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一个原子；初始特征 92 维</a:t>
            </a:r>
            <a:endParaRPr sz="127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10300" y="3562350"/>
            <a:ext cx="66675" cy="457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19850" y="3524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</a:t>
            </a:r>
            <a:endParaRPr sz="12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34300" y="351472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中心原子与近邻；距离高斯展开 41 维</a:t>
            </a:r>
            <a:endParaRPr sz="127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10300" y="4305300"/>
            <a:ext cx="66675" cy="4572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19850" y="42672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Neighbors</a:t>
            </a:r>
            <a:endParaRPr sz="1275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34300" y="42576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截断半径 8 Å；最多保留 12 个近邻</a:t>
            </a:r>
            <a:endParaRPr sz="127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91250" y="5219700"/>
            <a:ext cx="5105400" cy="590550"/>
          </a:xfrm>
          <a:prstGeom prst="roundRect">
            <a:avLst>
              <a:gd name="adj" fmla="val 25806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5400675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周期性边界下的近邻原子也参与构图。</a:t>
            </a:r>
            <a:endParaRPr sz="1200" b="1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48577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核心图卷积：邻居信息聚合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每个中心原子决定从不同邻居接收多少信息。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57350"/>
            <a:ext cx="1080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215" y="1917065"/>
            <a:ext cx="8213725" cy="92456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85800" y="3162300"/>
            <a:ext cx="3333750" cy="2114550"/>
          </a:xfrm>
          <a:prstGeom prst="roundRect">
            <a:avLst>
              <a:gd name="adj" fmla="val 7207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33718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75285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拼接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4210050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中心原子 v_i + 邻居 v_j + 边特征 u_ij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400550" y="3162300"/>
            <a:ext cx="3333750" cy="2114550"/>
          </a:xfrm>
          <a:prstGeom prst="roundRect">
            <a:avLst>
              <a:gd name="adj" fmla="val 7207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29150" y="33718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29150" y="375285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门控与核心信息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29150" y="4210050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一半经 Sigmoid 形成 gate，一半经 Softplus 形成 core；逐元素相乘。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115300" y="3162300"/>
            <a:ext cx="3333750" cy="2114550"/>
          </a:xfrm>
          <a:prstGeom prst="roundRect">
            <a:avLst>
              <a:gd name="adj" fmla="val 7207"/>
            </a:avLst>
          </a:prstGeom>
          <a:solidFill>
            <a:srgbClr val="E7F4EC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33718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43900" y="3752850"/>
            <a:ext cx="2762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邻居求和与更新</a:t>
            </a:r>
            <a:endParaRPr sz="15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43900" y="4210050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对所有邻居求和，再与中心原子残差相加，得到更新后的原子特征。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561975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0">
                <a:solidFill>
                  <a:srgbClr val="627D9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实现位置：cgcnn/model.py → ConvLayer</a:t>
            </a:r>
            <a:endParaRPr sz="1050" b="0">
              <a:solidFill>
                <a:srgbClr val="627D9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整体网络结构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输入图沿一条固定主干前向传播；这里完整说明一次。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Crystal graph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节点/边特征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2171700" y="2552700"/>
            <a:ext cx="24765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45745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7175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→ 64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4019550" y="2552700"/>
            <a:ext cx="24765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0530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1960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 × 3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1960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邻居聚合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867400" y="2552700"/>
            <a:ext cx="24765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15315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6745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pooling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6745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原子→晶体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7715250" y="2552700"/>
            <a:ext cx="24765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800100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1530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 隐层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9563100" y="2552700"/>
            <a:ext cx="247650" cy="171450"/>
          </a:xfrm>
          <a:prstGeom prst="rightArrow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9848850" y="2133600"/>
            <a:ext cx="154305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963150" y="237172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963150" y="2714625"/>
            <a:ext cx="13144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回归/分类头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95325" y="3800475"/>
            <a:ext cx="5219700" cy="1581150"/>
          </a:xfrm>
          <a:prstGeom prst="roundRect">
            <a:avLst>
              <a:gd name="adj" fmla="val 9639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82980" y="393319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实现中的关键尺寸</a:t>
            </a:r>
            <a:endParaRPr sz="14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4324350"/>
            <a:ext cx="438150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200"/>
              </a:spcAft>
              <a:buChar char="•"/>
              <a:def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atom feature = 92 维</a:t>
            </a:r>
            <a:endParaRPr sz="112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200"/>
              </a:spcAft>
              <a:buChar char="•"/>
              <a:def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bond feature = 41 维</a:t>
            </a:r>
            <a:endParaRPr sz="112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200"/>
              </a:spcAft>
              <a:buChar char="•"/>
              <a:def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atom hidden = 64</a:t>
            </a:r>
            <a:endParaRPr sz="112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200"/>
              </a:spcAft>
              <a:buChar char="•"/>
              <a:def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pooled hidden = 128</a:t>
            </a:r>
            <a:endParaRPr sz="112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200"/>
              </a:spcAft>
              <a:buChar char="•"/>
              <a:def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图卷积层数 = 3</a:t>
            </a:r>
            <a:endParaRPr sz="112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248400" y="3771900"/>
            <a:ext cx="5238750" cy="1581150"/>
          </a:xfrm>
          <a:prstGeom prst="roundRect">
            <a:avLst>
              <a:gd name="adj" fmla="val 9639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534150" y="40005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输出头决定任务类型</a:t>
            </a:r>
            <a:endParaRPr sz="142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4400550"/>
            <a:ext cx="44958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回归：连续性质。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分类：离散类别。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本报告的 MP 单任务与多任务都使用回归路径。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原论文主要实验与结论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复现时不把本项目的 30 轮指标与原论文数字直接横比。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19250"/>
            <a:ext cx="5219700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18669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论文验证范围</a:t>
            </a:r>
            <a:endParaRPr sz="1650" b="1">
              <a:solidFill>
                <a:srgbClr val="0F2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362200"/>
            <a:ext cx="447675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Materials Project 晶体结构与性质数据。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形成能、绝对能量、带隙、费米能、弹性模量和泊松比等回归任务。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金属/半导体分类任务。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论文同时报告了面向外部数据分布的迁移实验。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191250" y="1619250"/>
            <a:ext cx="5295900" cy="3714750"/>
          </a:xfrm>
          <a:prstGeom prst="roundRect">
            <a:avLst>
              <a:gd name="adj" fmla="val 4103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77000" y="18669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结论与意义</a:t>
            </a:r>
            <a:endParaRPr sz="16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2362200"/>
            <a:ext cx="459105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直接从晶体结构学习表示，减少人工描述符设计。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晶体图保持了原子与近邻的局部连接关系。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同一个网络骨架可支持多种性质任务和分类任务。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0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邻居聚合为局部分析提供了可解释入口。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docs/paper_notes.md, pre-trained/README.md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19150" y="2000250"/>
            <a:ext cx="1714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200" b="1">
                <a:solidFill>
                  <a:srgbClr val="F6AD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F6AD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200" b="1">
              <a:solidFill>
                <a:srgbClr val="F6AD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2781300"/>
            <a:ext cx="9144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部署与 MP 单任务复现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3505200"/>
            <a:ext cx="8572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单任务部分只使用 Materials Project 数据，输出一个形成能目标。</a:t>
            </a:r>
            <a:endParaRPr sz="1275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4095750"/>
            <a:ext cx="2667000" cy="38100"/>
          </a:xfrm>
          <a:prstGeom prst="rect">
            <a:avLst/>
          </a:prstGeom>
          <a:solidFill>
            <a:srgbClr val="F6AD55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900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部署：环境与运行链路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 CUDA 真正可用，再进入训练和预测流程。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00200"/>
            <a:ext cx="5105400" cy="3390900"/>
          </a:xfrm>
          <a:prstGeom prst="roundRect">
            <a:avLst>
              <a:gd name="adj" fmla="val 337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33450" y="1809750"/>
            <a:ext cx="95250" cy="9525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1104900" y="1809750"/>
            <a:ext cx="95250" cy="952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76350" y="1809750"/>
            <a:ext cx="95250" cy="9525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7526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PowerShell / environment check</a:t>
            </a:r>
            <a:endParaRPr sz="900" b="0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152650"/>
            <a:ext cx="457200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python=3.10.20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torch=2.7.0+cu128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torch_cuda=12.8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cuda_available=True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gpu0=NVIDIA GeForce RTX 5060 Laptop GPU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capability=(12, 0)</a:t>
            </a:r>
            <a:endParaRPr sz="112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1752600"/>
            <a:ext cx="57150" cy="4953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438900" y="16573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975" b="1">
              <a:solidFill>
                <a:srgbClr val="2F6FB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96100" y="16383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检查环境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96100" y="1933575"/>
            <a:ext cx="440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Python、PyTorch CUDA、GPU 与依赖完整性。</a:t>
            </a:r>
            <a:endParaRPr sz="105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2628900"/>
            <a:ext cx="57150" cy="4953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5336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975" b="1">
              <a:solidFill>
                <a:srgbClr val="D9770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96100" y="25146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组织数据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96100" y="2809875"/>
            <a:ext cx="440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每个数据集目录包含 id_prop.csv、atom_init.json 和 CIF 文件。</a:t>
            </a:r>
            <a:endParaRPr sz="105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3505200"/>
            <a:ext cx="57150" cy="4953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34099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975" b="1">
              <a:solidFill>
                <a:srgbClr val="2F6FB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96100" y="33909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96100" y="3686175"/>
            <a:ext cx="440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main.py 生成 checkpoint、model_best 和测试结果 CSV。</a:t>
            </a:r>
            <a:endParaRPr sz="105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4381500"/>
            <a:ext cx="57150" cy="4953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38900" y="4286250"/>
            <a:ext cx="342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975" b="1">
              <a:solidFill>
                <a:srgbClr val="D9770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96100" y="42672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13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96100" y="4562475"/>
            <a:ext cx="44005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predict.py 加载 checkpoint，对新 CIF 目录输出预测。</a:t>
            </a:r>
            <a:endParaRPr sz="105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191250" y="5105400"/>
            <a:ext cx="5105400" cy="666750"/>
          </a:xfrm>
          <a:prstGeom prst="roundRect">
            <a:avLst>
              <a:gd name="adj" fmla="val 22857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57950" y="53054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我的工作：环境验证、数据整理、命令行训练、结果落盘与指标复算。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results/mp_presentation_20260917/environment.txt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单任务：数据与实验设置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单一目标：formation energy per atom，单位 eV/atom。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38300"/>
            <a:ext cx="33147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18288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46,744</a:t>
            </a:r>
            <a:endParaRPr sz="22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3241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 MP ID 清单</a:t>
            </a:r>
            <a:endParaRPr sz="112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52925" y="1638300"/>
            <a:ext cx="331470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9E2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581525" y="18288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36,358</a:t>
            </a:r>
            <a:endParaRPr sz="22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81525" y="23241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成功保留的 MP 结构</a:t>
            </a:r>
            <a:endParaRPr sz="112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020050" y="1638300"/>
            <a:ext cx="3314700" cy="1238250"/>
          </a:xfrm>
          <a:prstGeom prst="roundRect">
            <a:avLst>
              <a:gd name="adj" fmla="val 12308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48650" y="18288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2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48650" y="23241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单任务输出目标</a:t>
            </a:r>
            <a:endParaRPr sz="112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3238500"/>
            <a:ext cx="5219700" cy="2381250"/>
          </a:xfrm>
          <a:prstGeom prst="roundRect">
            <a:avLst>
              <a:gd name="adj" fmla="val 6400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34861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数据划分</a:t>
            </a:r>
            <a:endParaRPr sz="157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3943350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0F274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1">
                <a:solidFill>
                  <a:srgbClr val="0F274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29,086 / 3,635 / 3,635</a:t>
            </a:r>
            <a:endParaRPr sz="1950" b="1">
              <a:solidFill>
                <a:srgbClr val="0F274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43434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/ 验证 / 测试；固定随机种子 123，80% / 10% / 10%。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493395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 size 256  •  epochs 30  •  SGD lr=0.01</a:t>
            </a:r>
            <a:endParaRPr sz="1200" b="1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191250" y="3238500"/>
            <a:ext cx="5295900" cy="2381250"/>
          </a:xfrm>
          <a:prstGeom prst="roundRect">
            <a:avLst>
              <a:gd name="adj" fmla="val 6400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34861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模型与图参数</a:t>
            </a:r>
            <a:endParaRPr sz="15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3962400"/>
            <a:ext cx="4572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600"/>
              </a:spcAft>
              <a:buChar char="•"/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节点特征 92 维；边特征 41 维。</a:t>
            </a:r>
            <a:endParaRPr sz="120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600"/>
              </a:spcAft>
              <a:buChar char="•"/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截断半径 8 Å；最多 12 个近邻。</a:t>
            </a:r>
            <a:endParaRPr sz="120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600"/>
              </a:spcAft>
              <a:buChar char="•"/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层 ConvLayer；atom hidden=64，pooled hidden=128。</a:t>
            </a:r>
            <a:endParaRPr sz="120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600"/>
              </a:spcAft>
              <a:buChar char="•"/>
              <a:def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回归输出维度 [N, 1]。</a:t>
            </a:r>
            <a:endParaRPr sz="120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5867400"/>
            <a:ext cx="5295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表中 3 个形成能缺失值由掩码忽略。</a:t>
            </a:r>
            <a:endParaRPr sz="975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单任务训练过程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训练日志与验证曲线来自同一次 30 轮运行。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447800"/>
            <a:ext cx="4972050" cy="3486150"/>
          </a:xfrm>
          <a:prstGeom prst="roundRect">
            <a:avLst>
              <a:gd name="adj" fmla="val 327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65735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PowerShell / real log excerpt</a:t>
            </a:r>
            <a:endParaRPr sz="900" b="0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038350"/>
            <a:ext cx="4457700" cy="2457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main.py --epochs 30 --batch-size 256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--train-ratio 0.8 --val-ratio 0.1 --test-ratio 0.1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--num-targets 1 data/mp-single-formation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975"/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Epoch: [29][113/114]  Loss 0.0181  MAE 0.102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* MAE 0.091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---------Evaluate Model on Test Set---------------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** MAE 0.080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2183700"/>
            <a:ext cx="5676900" cy="205245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09600" y="5219700"/>
            <a:ext cx="10896600" cy="704850"/>
          </a:xfrm>
          <a:prstGeom prst="roundRect">
            <a:avLst>
              <a:gd name="adj" fmla="val 21622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4292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训练：masked MSE；验证：MAE。模型选择使用最好验证集 MAE 对应的 checkpoint。</a:t>
            </a:r>
            <a:endParaRPr sz="12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results/mp_presentation_20260917/single_task_30e/train_mp_single_30e.log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单任务真实结果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独立结果页：仅报告 MP 单任务形成能预测。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43050"/>
            <a:ext cx="25336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7526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 val MAE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0288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0.0810</a:t>
            </a:r>
            <a:endParaRPr sz="19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371850" y="1543050"/>
            <a:ext cx="25336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543300" y="17526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MAE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43300" y="20288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0.0798</a:t>
            </a:r>
            <a:endParaRPr sz="19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34100" y="1543050"/>
            <a:ext cx="25336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05550" y="17526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RMSE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05550" y="20288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0.1214</a:t>
            </a:r>
            <a:endParaRPr sz="195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896350" y="1543050"/>
            <a:ext cx="2533650" cy="9906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0E749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67800" y="1752600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R²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20288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0.9880</a:t>
            </a:r>
            <a:endParaRPr sz="1950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7" name="表格 36"/>
          <p:cNvGraphicFramePr/>
          <p:nvPr/>
        </p:nvGraphicFramePr>
        <p:xfrm>
          <a:off x="609600" y="2876550"/>
          <a:ext cx="5143500" cy="1028700"/>
        </p:xfrm>
        <a:graphic>
          <a:graphicData uri="http://schemas.openxmlformats.org/drawingml/2006/table">
            <a:tbl>
              <a:tblPr firstRow="1" bandRow="1"/>
              <a:tblGrid>
                <a:gridCol w="1028700"/>
                <a:gridCol w="1028700"/>
                <a:gridCol w="1028700"/>
                <a:gridCol w="1028700"/>
                <a:gridCol w="10287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Task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formation energy (eV/atom)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3,635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0.079801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0.121411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0.987963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3183937"/>
            <a:ext cx="5505450" cy="220462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609600" y="5467350"/>
            <a:ext cx="561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指标从 test_results.csv 重新计算；终端只取整到三位小数。</a:t>
            </a:r>
            <a:endParaRPr sz="105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results\mp_presentation_20260917\single_task_30e\test_results.csv; SHA-256 1aaf85f95c5e…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单任务结果分析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只讨论单任务自身，不与多任务结果混在同一结果页。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562100"/>
            <a:ext cx="10801350" cy="838200"/>
          </a:xfrm>
          <a:prstGeom prst="roundRect">
            <a:avLst>
              <a:gd name="adj" fmla="val 18182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733550"/>
            <a:ext cx="57150" cy="4953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1743075"/>
            <a:ext cx="1409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142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24150" y="1733550"/>
            <a:ext cx="84010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形成能测试集 MAE 约 0.0798 eV/atom，R² 约 0.988；残差集中在 0 附近。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609850"/>
            <a:ext cx="108013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781300"/>
            <a:ext cx="57150" cy="4953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2790825"/>
            <a:ext cx="1409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训练过程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24150" y="2781300"/>
            <a:ext cx="84010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轮内训练和验证 MAE 持续下降，最好验证集出现在 epoch 26。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3657600"/>
            <a:ext cx="10801350" cy="838200"/>
          </a:xfrm>
          <a:prstGeom prst="roundRect">
            <a:avLst>
              <a:gd name="adj" fmla="val 18182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3829050"/>
            <a:ext cx="57150" cy="49530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23950" y="3838575"/>
            <a:ext cx="1409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425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24150" y="3829050"/>
            <a:ext cx="84010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单次运行、单随机种子、固定超参数；这是 MP 单任务 pipeline baseline，不是论文级调参结果。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4705350"/>
            <a:ext cx="108013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4876800"/>
            <a:ext cx="57150" cy="49530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23950" y="4886325"/>
            <a:ext cx="1409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42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724150" y="4876800"/>
            <a:ext cx="84010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若要做科学比较，应固定同一划分并分别运行多种子、单任务超参搜索和误差分析。</a:t>
            </a:r>
            <a:endParaRPr sz="1200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5800" y="5867400"/>
            <a:ext cx="10801350" cy="476250"/>
          </a:xfrm>
          <a:prstGeom prst="roundRect">
            <a:avLst>
              <a:gd name="adj" fmla="val 32000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5991225"/>
            <a:ext cx="10191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结论：MP 单任务复现流程完整跑通，指标可追溯；该结果作为单任务基线单独保存。</a:t>
            </a:r>
            <a:endParaRPr sz="120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19150" y="2000250"/>
            <a:ext cx="17145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200" b="1">
                <a:solidFill>
                  <a:srgbClr val="9AE6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9AE6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200" b="1">
              <a:solidFill>
                <a:srgbClr val="9AE6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2781300"/>
            <a:ext cx="9144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多任务扩展与训练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3505200"/>
            <a:ext cx="8572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CGCNN 主干，输出层并行预测三个 MP 性质。</a:t>
            </a:r>
            <a:endParaRPr sz="1275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4095750"/>
            <a:ext cx="2667000" cy="38100"/>
          </a:xfrm>
          <a:prstGeom prst="rect">
            <a:avLst/>
          </a:prstGeom>
          <a:solidFill>
            <a:srgbClr val="9AE6B4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C9D8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C9D8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为什么改多任务，以及数据格式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多任务从“共享结构表示 + 多输出”出发，不直接假设一定优于单任务。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38300"/>
            <a:ext cx="4895850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18859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</a:t>
            </a:r>
            <a:endParaRPr sz="1650" b="1">
              <a:solidFill>
                <a:srgbClr val="0F2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362200"/>
            <a:ext cx="409575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114300">
              <a:spcAft>
                <a:spcPts val="11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同一晶体结构可以对应多个性质，主干表示可以复用。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1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部署时一次 forward 输出多个性质，减少重复模型和重复预处理。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1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形成能、带隙和费米能都与电子结构相关，但本报告不预设迁移方向。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indent="-114300">
              <a:spcAft>
                <a:spcPts val="1100"/>
              </a:spcAft>
              <a:buChar char="•"/>
              <a:def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缺失标签必须显式处理，不能把空值当作 0。</a:t>
            </a:r>
            <a:endParaRPr sz="1275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867400" y="1638300"/>
            <a:ext cx="5619750" cy="4000500"/>
          </a:xfrm>
          <a:prstGeom prst="roundRect">
            <a:avLst>
              <a:gd name="adj" fmla="val 3810"/>
            </a:avLst>
          </a:prstGeom>
          <a:solidFill>
            <a:srgbClr val="E7F4EC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153150" y="18859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数据格式与设置</a:t>
            </a:r>
            <a:endParaRPr sz="165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53150" y="232410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id, formation_energy_per_atom, band_gap, efermi</a:t>
            </a:r>
            <a:endParaRPr sz="97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mp-754118, -2.228845, 3.282400, 1.795959</a:t>
            </a:r>
            <a:endParaRPr sz="97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6153150" y="3143250"/>
          <a:ext cx="4838700" cy="2057400"/>
        </p:xfrm>
        <a:graphic>
          <a:graphicData uri="http://schemas.openxmlformats.org/drawingml/2006/table">
            <a:tbl>
              <a:tblPr firstRow="1" bandRow="1"/>
              <a:tblGrid>
                <a:gridCol w="2419350"/>
                <a:gridCol w="241935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值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 结构数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36,358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缺失标签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形成能 3；带隙 0；Efermi 6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划分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29,086 / 3,635 / 3,635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输出任务数 K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多任务代码修改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修改集中在数据、输出层、损失/归一化和预测恢复；图卷积主干不变。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676400"/>
            <a:ext cx="2552700" cy="3067050"/>
          </a:xfrm>
          <a:prstGeom prst="roundRect">
            <a:avLst>
              <a:gd name="adj" fmla="val 5970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9240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F6F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data.py</a:t>
            </a:r>
            <a:endParaRPr sz="1650" b="1">
              <a:solidFill>
                <a:srgbClr val="2F6FB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457450"/>
            <a:ext cx="21145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多列标签读取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空值和 nan → NaN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target shape: [K]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390900" y="1676400"/>
            <a:ext cx="2552700" cy="3067050"/>
          </a:xfrm>
          <a:prstGeom prst="roundRect">
            <a:avLst>
              <a:gd name="adj" fmla="val 5970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00450" y="19240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D97706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model.py</a:t>
            </a:r>
            <a:endParaRPr sz="1650" b="1">
              <a:solidFill>
                <a:srgbClr val="D97706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00450" y="2457450"/>
            <a:ext cx="21145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新增 num_targets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fc_out = Linear(128, K)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ConvLayer 保持不变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72200" y="1676400"/>
            <a:ext cx="2552700" cy="3067050"/>
          </a:xfrm>
          <a:prstGeom prst="roundRect">
            <a:avLst>
              <a:gd name="adj" fmla="val 5970"/>
            </a:avLst>
          </a:prstGeom>
          <a:solidFill>
            <a:srgbClr val="E7F4EC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19240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85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F855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main.py</a:t>
            </a:r>
            <a:endParaRPr sz="1650" b="1">
              <a:solidFill>
                <a:srgbClr val="2F855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2457450"/>
            <a:ext cx="21145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新增 --num-targets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masked MSE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按任务归一化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测试 CSV = id+2K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953500" y="1676400"/>
            <a:ext cx="2552700" cy="3067050"/>
          </a:xfrm>
          <a:prstGeom prst="roundRect">
            <a:avLst>
              <a:gd name="adj" fmla="val 5970"/>
            </a:avLst>
          </a:prstGeom>
          <a:solidFill>
            <a:srgbClr val="E6F7F9"/>
          </a:solidFill>
          <a:ln w="11430">
            <a:solidFill>
              <a:srgbClr val="0E749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63050" y="192405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0E749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0E749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predict.py</a:t>
            </a:r>
            <a:endParaRPr sz="1650" b="1">
              <a:solidFill>
                <a:srgbClr val="0E749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63050" y="2457450"/>
            <a:ext cx="21145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从 checkpoint 读 num_targets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重建 K 输出头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125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写回 1+2K 列</a:t>
            </a:r>
            <a:endParaRPr sz="1125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" y="5010150"/>
            <a:ext cx="109728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52197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不改动的部分：晶体图构建、ConvLayer、3 层图卷积、pooling 和共享表示。</a:t>
            </a:r>
            <a:endParaRPr sz="1350" b="1">
              <a:solidFill>
                <a:srgbClr val="0F2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10039350" y="3581400"/>
            <a:ext cx="876300" cy="171450"/>
          </a:xfrm>
          <a:prstGeom prst="rightArrow">
            <a:avLst/>
          </a:prstGeom>
          <a:solidFill>
            <a:srgbClr val="2F855A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58400" y="381000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→ 3 outputs</a:t>
            </a:r>
            <a:endParaRPr sz="975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多任务训练过程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三任务共享主干；损失只统计当前样本中非缺失的目标。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447800"/>
            <a:ext cx="4972050" cy="3486150"/>
          </a:xfrm>
          <a:prstGeom prst="roundRect">
            <a:avLst>
              <a:gd name="adj" fmla="val 327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65735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 b="0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PowerShell / real log excerpt</a:t>
            </a:r>
            <a:endParaRPr sz="900" b="0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038350"/>
            <a:ext cx="4457700" cy="2381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main.py --epochs 30 --batch-size 256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--train-ratio 0.8 --val-ratio 0.1 --test-ratio 0.1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--num-targets 3 data/mt-large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975"/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masked MSE: 只对非 NaN 标签计损失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0">
                <a:solidFill>
                  <a:srgbClr val="DCE7F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normalizer: 每个任务分别标准化</a:t>
            </a:r>
            <a:endParaRPr sz="975" b="0">
              <a:solidFill>
                <a:srgbClr val="DCE7F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2183700"/>
            <a:ext cx="5676900" cy="205245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09600" y="5219700"/>
            <a:ext cx="10896600" cy="704850"/>
          </a:xfrm>
          <a:prstGeom prst="roundRect">
            <a:avLst>
              <a:gd name="adj" fmla="val 21622"/>
            </a:avLst>
          </a:prstGeom>
          <a:solidFill>
            <a:srgbClr val="E7F4EC"/>
          </a:solidFill>
          <a:ln w="11430">
            <a:solidFill>
              <a:srgbClr val="2F855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4292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验证阶段输出 mean-task MAE 作为 checkpoint 选择指标；最终结果仍按任务分别报告。</a:t>
            </a:r>
            <a:endParaRPr sz="127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results/mp_presentation_20260917/multitask_30e/train_mp_multitask_30e.log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多任务真实结果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独立结果页：三项性质分别计算 MAE、RMSE 和 R²。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09600" y="1562100"/>
          <a:ext cx="5429250" cy="2133600"/>
        </p:xfrm>
        <a:graphic>
          <a:graphicData uri="http://schemas.openxmlformats.org/drawingml/2006/table">
            <a:tbl>
              <a:tblPr firstRow="1" bandRow="1"/>
              <a:tblGrid>
                <a:gridCol w="1085850"/>
                <a:gridCol w="1085850"/>
                <a:gridCol w="1085850"/>
                <a:gridCol w="1085850"/>
                <a:gridCol w="108585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Task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RMSE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R²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274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Formation energy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3,635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0.1047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0.1490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0.9819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Band gap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3,635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0.4308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0.6885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0.8448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Fermi energy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3,635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0.4473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0.6739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334E6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0.9434</a:t>
                      </a:r>
                      <a:endParaRPr sz="975" b="0">
                        <a:solidFill>
                          <a:srgbClr val="334E6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0" y="2022031"/>
            <a:ext cx="5276850" cy="1785239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609600" y="4000500"/>
            <a:ext cx="5429250" cy="200025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42481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读取方式</a:t>
            </a:r>
            <a:endParaRPr sz="1425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46291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test_results.csv 每行：</a:t>
            </a:r>
            <a:endParaRPr sz="1200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 + 3 个真实值 + 3 个预测值</a:t>
            </a:r>
            <a:endParaRPr sz="1200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334E6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共 1 + 2K = 7 列。</a:t>
            </a:r>
            <a:endParaRPr sz="1200" b="0">
              <a:solidFill>
                <a:srgbClr val="334E6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468630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task MAE = 0.3276（仅作辅助，不替代分任务指标）</a:t>
            </a:r>
            <a:endParaRPr sz="12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343650"/>
            <a:ext cx="10096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Source: results\mp_presentation_20260917\multitask_30e\test_results.csv; SHA-256 f22c49919e1f…</a:t>
            </a:r>
            <a:endParaRPr sz="7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多任务结果分析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只讨论多任务自身，不用单任务结果替代本页证据。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581150"/>
            <a:ext cx="10801350" cy="819150"/>
          </a:xfrm>
          <a:prstGeom prst="roundRect">
            <a:avLst>
              <a:gd name="adj" fmla="val 18605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1752600"/>
            <a:ext cx="57150" cy="47625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23950" y="17621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形成能</a:t>
            </a:r>
            <a:endParaRPr sz="1425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571750" y="1752600"/>
            <a:ext cx="8553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MAE=0.1047，RMSE=0.1490，R²=0.9819；三项中相对最好。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5800" y="2609850"/>
            <a:ext cx="108013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76300" y="2781300"/>
            <a:ext cx="57150" cy="4762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123950" y="27908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带隙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571750" y="2781300"/>
            <a:ext cx="8553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MAE=0.4308，RMSE=0.6885，R²=0.8448；金属零带隙与连续带隙混合，误差更大。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5800" y="3638550"/>
            <a:ext cx="10801350" cy="819150"/>
          </a:xfrm>
          <a:prstGeom prst="roundRect">
            <a:avLst>
              <a:gd name="adj" fmla="val 18605"/>
            </a:avLst>
          </a:prstGeom>
          <a:solidFill>
            <a:srgbClr val="EEF2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6300" y="3810000"/>
            <a:ext cx="57150" cy="476250"/>
          </a:xfrm>
          <a:prstGeom prst="rect">
            <a:avLst/>
          </a:prstGeom>
          <a:solidFill>
            <a:srgbClr val="2F855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23950" y="38195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费米能</a:t>
            </a:r>
            <a:endParaRPr sz="1425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571750" y="3810000"/>
            <a:ext cx="8553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MAE=0.4473，RMSE=0.6739，R²=0.9434；尺度和分布差异明显，共享损失下更难训练。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85800" y="4667250"/>
            <a:ext cx="108013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76300" y="4838700"/>
            <a:ext cx="57150" cy="47625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123950" y="48482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结论边界</a:t>
            </a:r>
            <a:endParaRPr sz="142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571750" y="4838700"/>
            <a:ext cx="85534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本实验已经验证共享主干加 </a:t>
            </a:r>
            <a:r>
              <a:rPr lang="en-US" altLang="zh-CN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输出的多任务训练流程可以正常运行</a:t>
            </a: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但不能据此声明多任务优于单任务</a:t>
            </a: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5800" y="5772150"/>
            <a:ext cx="10801350" cy="552450"/>
          </a:xfrm>
          <a:prstGeom prst="roundRect">
            <a:avLst>
              <a:gd name="adj" fmla="val 27586"/>
            </a:avLst>
          </a:prstGeom>
          <a:solidFill>
            <a:srgbClr val="FDF0DF"/>
          </a:solidFill>
          <a:ln w="11430">
            <a:solidFill>
              <a:srgbClr val="D9770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59245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当前实现能完成 shared backbone + K-output 多任务回归；下一步再做任务权重、任务专属头和严格对照。</a:t>
            </a:r>
            <a:endParaRPr sz="12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400050"/>
            <a:ext cx="495300" cy="38100"/>
          </a:xfrm>
          <a:prstGeom prst="rect">
            <a:avLst/>
          </a:prstGeom>
          <a:solidFill>
            <a:srgbClr val="2F6FBB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514350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21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4297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27D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论文理解、部署复现、单任务结果和多任务修改均以可追溯文件为依据。</a:t>
            </a:r>
            <a:endParaRPr sz="1050" b="0">
              <a:solidFill>
                <a:srgbClr val="627D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506200" y="64579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1562100"/>
            <a:ext cx="5257800" cy="37719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6172200" y="1562100"/>
            <a:ext cx="5410200" cy="37719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18288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本次完成</a:t>
            </a:r>
            <a:endParaRPr sz="165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57950" y="18288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多任务与下一步</a:t>
            </a:r>
            <a:endParaRPr sz="165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5350" y="23812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endParaRPr sz="120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5350" y="26860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解释一次：晶体图表示、门控邻居聚合、整体网络结构。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95350" y="32956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endParaRPr sz="120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95350" y="36004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Python 3.10.20 + PyTorch 2.7.0+cu128 + RTX 5060 CUDA。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5350" y="4210050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6F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单任务</a:t>
            </a:r>
            <a:endParaRPr sz="1200" b="1">
              <a:solidFill>
                <a:srgbClr val="2F6FB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95350" y="451485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形成能：Test MAE 0.0798，RMSE 0.1214，R² 0.9880。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57950" y="23812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</a:t>
            </a:r>
            <a:endParaRPr sz="120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57950" y="2686050"/>
            <a:ext cx="46291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 三性质：形成能 MAE 0.1047，带隙 0.4308，Efermi 0.4473。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457950" y="32956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代码工作</a:t>
            </a:r>
            <a:endParaRPr sz="120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57950" y="3600450"/>
            <a:ext cx="46291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 data.py / model.py / main.py / predict.py；主干 ConvLayer 不变。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57950" y="4210050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200" b="1">
              <a:solidFill>
                <a:srgbClr val="2F85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57950" y="4514850"/>
            <a:ext cx="46291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学习和复现 </a:t>
            </a:r>
            <a:r>
              <a:rPr lang="en-US" altLang="zh-CN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SchNet、Matformer、ALIGNN </a:t>
            </a: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等材料图神经网络，比较它们与 </a:t>
            </a:r>
            <a:r>
              <a:rPr lang="en-US" altLang="zh-CN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CGCNN </a:t>
            </a:r>
            <a:r>
              <a:rPr lang="zh-CN" altLang="en-US"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在表示能力、速度和数据需求方面的差异</a:t>
            </a:r>
            <a:r>
              <a:rPr sz="1125" b="0">
                <a:solidFill>
                  <a:srgbClr val="334E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25" b="0">
              <a:solidFill>
                <a:srgbClr val="334E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09600" y="5619750"/>
            <a:ext cx="10972800" cy="628650"/>
          </a:xfrm>
          <a:prstGeom prst="roundRect">
            <a:avLst>
              <a:gd name="adj" fmla="val 24242"/>
            </a:avLst>
          </a:prstGeom>
          <a:solidFill>
            <a:srgbClr val="E8F1FB"/>
          </a:solidFill>
          <a:ln w="11430">
            <a:solidFill>
              <a:srgbClr val="2F6FB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581025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F27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自己的工作：环境部署、MP 单任务训练、多任务代码修改、MP 多任务训练、日志与结果复算。</a:t>
            </a:r>
            <a:endParaRPr sz="1275" b="1">
              <a:solidFill>
                <a:srgbClr val="0F27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2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3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4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5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6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7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8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9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0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1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2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3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4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5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6.xml><?xml version="1.0" encoding="utf-8"?>
<p:tagLst xmlns:p="http://schemas.openxmlformats.org/presentationml/2006/main">
  <p:tag name="KSO_WM_DIAGRAM_VIRTUALLY_FRAME" val="{&quot;height&quot;:307.5,&quot;left&quot;:54,&quot;top&quot;:124.5,&quot;width&quot;:850.5}"/>
</p:tagLst>
</file>

<file path=ppt/tags/tag17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18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19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0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1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2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3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4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5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6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7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ags/tag28.xml><?xml version="1.0" encoding="utf-8"?>
<p:tagLst xmlns:p="http://schemas.openxmlformats.org/presentationml/2006/main">
  <p:tag name="KSO_WM_DIAGRAM_VIRTUALLY_FRAME" val="{&quot;height&quot;:205.5,&quot;left&quot;:70.5,&quot;top&quot;:187.5,&quot;width&quot;:802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5278</Words>
  <Application>WPS 演示</Application>
  <PresentationFormat>Converted Presentation</PresentationFormat>
  <Paragraphs>591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孙晨轩</cp:lastModifiedBy>
  <cp:revision>1</cp:revision>
  <dcterms:created xsi:type="dcterms:W3CDTF">2026-09-17T11:25:18Z</dcterms:created>
  <dcterms:modified xsi:type="dcterms:W3CDTF">2026-09-17T11:25:18Z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B779A0A7EDFC43A7AD1667CB60462163_12</vt:lpwstr>
  </property>
</Properties>
</file>